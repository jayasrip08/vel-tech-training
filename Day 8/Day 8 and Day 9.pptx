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6" r:id="rId9"/>
    <p:sldId id="267" r:id="rId10"/>
    <p:sldId id="268" r:id="rId11"/>
    <p:sldId id="269" r:id="rId12"/>
    <p:sldId id="270" r:id="rId13"/>
    <p:sldId id="272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9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046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6D28D9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384048"/>
            <a:ext cx="2743200" cy="47548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3840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INNOTRACK 2025  ·  TRACK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9144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B"/>
                </a:solidFill>
              </a:rPr>
              <a:t>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1F3B"/>
                </a:solidFill>
              </a:rPr>
              <a:t>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82880" y="28346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Learn.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Improve.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Deploy.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9144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Hyperparameter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11880" y="16916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9E0B"/>
                </a:solidFill>
              </a:rPr>
              <a:t>Tuning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11880" y="26060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4B5FD"/>
                </a:solidFill>
              </a:rPr>
              <a:t>Squeeze the best performance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4B5FD"/>
                </a:solidFill>
              </a:rPr>
              <a:t>out of your 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11880" y="3566160"/>
            <a:ext cx="5212080" cy="68580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11880" y="35661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B"/>
                </a:solidFill>
              </a:rPr>
              <a:t>📦  DELIVERABLE — Tuned .pkl model with improved accuracy vs Day 6 baseline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11880" y="4663440"/>
            <a:ext cx="91440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54296" y="4663440"/>
            <a:ext cx="9144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654296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B"/>
                </a:solidFill>
              </a:rPr>
              <a:t>D7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96712" y="4663440"/>
            <a:ext cx="91440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696712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39128" y="4663440"/>
            <a:ext cx="91440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739128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81544" y="4663440"/>
            <a:ext cx="91440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81544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Are Hyperparameters?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920240"/>
          </a:xfrm>
          <a:prstGeom prst="rect">
            <a:avLst/>
          </a:prstGeom>
          <a:solidFill>
            <a:srgbClr val="1D4ED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20700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🔧  Model Parameters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" y="17830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0E7FF"/>
                </a:solidFill>
              </a:rPr>
              <a:t>Learned automatically during training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0E7FF"/>
                </a:solidFill>
              </a:rPr>
              <a:t>e.g. weights in a neural network, split thresholds in a Decision Tree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30352" y="2651760"/>
            <a:ext cx="2286000" cy="25603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INTERNAL · LEARNED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114800" cy="1920240"/>
          </a:xfrm>
          <a:prstGeom prst="rect">
            <a:avLst/>
          </a:prstGeom>
          <a:solidFill>
            <a:srgbClr val="6D28D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120700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🎛️  Hyperparameters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65192" y="17830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0E7FF"/>
                </a:solidFill>
              </a:rPr>
              <a:t>Set by YOU before training begins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0E7FF"/>
                </a:solidFill>
              </a:rPr>
              <a:t>e.g. n_estimators, max_depth, C (SVM), k (KNN), learning_rate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65192" y="2651760"/>
            <a:ext cx="2286000" cy="25603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65192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EXTERNAL · CHOSEN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8412480" cy="34747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00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Common Hyperparameters by Algorithm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8412480" cy="338328"/>
          </a:xfrm>
          <a:prstGeom prst="rect">
            <a:avLst/>
          </a:prstGeom>
          <a:solidFill>
            <a:srgbClr val="1A1033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611880"/>
            <a:ext cx="164592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B5FD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29968" y="3611880"/>
            <a:ext cx="109728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</a:rPr>
              <a:t>n_estimators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27248" y="3611880"/>
            <a:ext cx="155448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B4FC"/>
                </a:solidFill>
              </a:rPr>
              <a:t>Number of trees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81728" y="3611880"/>
            <a:ext cx="109728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</a:rPr>
              <a:t>max_depth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79008" y="3611880"/>
            <a:ext cx="265176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B4FC"/>
                </a:solidFill>
              </a:rPr>
              <a:t>Max tree depth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59352"/>
            <a:ext cx="8412480" cy="338328"/>
          </a:xfrm>
          <a:prstGeom prst="rect">
            <a:avLst/>
          </a:prstGeom>
          <a:solidFill>
            <a:srgbClr val="110D26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959352"/>
            <a:ext cx="164592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B5FD"/>
                </a:solidFill>
              </a:rPr>
              <a:t>SVM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29968" y="3959352"/>
            <a:ext cx="109728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</a:rPr>
              <a:t>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27248" y="3959352"/>
            <a:ext cx="155448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B4FC"/>
                </a:solidFill>
              </a:rPr>
              <a:t>Regularisation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81728" y="3959352"/>
            <a:ext cx="109728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</a:rPr>
              <a:t>kernel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79008" y="3959352"/>
            <a:ext cx="265176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B4FC"/>
                </a:solidFill>
              </a:rPr>
              <a:t>rbf / linear / poly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306824"/>
            <a:ext cx="8412480" cy="338328"/>
          </a:xfrm>
          <a:prstGeom prst="rect">
            <a:avLst/>
          </a:prstGeom>
          <a:solidFill>
            <a:srgbClr val="1A1033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4306824"/>
            <a:ext cx="164592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B5FD"/>
                </a:solidFill>
              </a:rPr>
              <a:t>KNN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29968" y="4306824"/>
            <a:ext cx="109728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</a:rPr>
              <a:t>n_neighbors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27248" y="4306824"/>
            <a:ext cx="155448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B4FC"/>
                </a:solidFill>
              </a:rPr>
              <a:t>Number of 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81728" y="4306824"/>
            <a:ext cx="109728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</a:rPr>
              <a:t>metric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79008" y="4306824"/>
            <a:ext cx="265176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B4FC"/>
                </a:solidFill>
              </a:rPr>
              <a:t>euclidean / manhattan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654296"/>
            <a:ext cx="8412480" cy="338328"/>
          </a:xfrm>
          <a:prstGeom prst="rect">
            <a:avLst/>
          </a:prstGeom>
          <a:solidFill>
            <a:srgbClr val="110D26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4654296"/>
            <a:ext cx="164592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B5FD"/>
                </a:solidFill>
              </a:rPr>
              <a:t>LogReg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029968" y="4654296"/>
            <a:ext cx="109728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</a:rPr>
              <a:t>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127248" y="4654296"/>
            <a:ext cx="155448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B4FC"/>
                </a:solidFill>
              </a:rPr>
              <a:t>Inverse regularise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81728" y="4654296"/>
            <a:ext cx="109728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</a:rPr>
              <a:t>solver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79008" y="4654296"/>
            <a:ext cx="2651760" cy="3383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B4FC"/>
                </a:solidFill>
              </a:rPr>
              <a:t>lbfgs / saga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GridSearchCV  vs  RandomizedSearchCV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840480"/>
          </a:xfrm>
          <a:prstGeom prst="rect">
            <a:avLst/>
          </a:prstGeom>
          <a:solidFill>
            <a:srgbClr val="1E1B4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59436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🔲  GridSearchCV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</a:rPr>
              <a:t>Tries EVERY combination of hyperparameter values you specify. Exhaustive but thorough.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param_grid =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'n_estimators': [50, 100, 200],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'max_depth': [3, 5, 10]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Tries 3×3 = 9 combinations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DE80"/>
                </a:solidFill>
              </a:rPr>
              <a:t>✅ USE WHEN: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3685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• Guaranteed to find the best combo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941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• Reproducible &amp; deterministic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4197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• Great for small param grids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A5A5"/>
                </a:solidFill>
              </a:rPr>
              <a:t>⚠ AVOID WHEN: Very slow on large grids · Computationally expensive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023360" cy="3840480"/>
          </a:xfrm>
          <a:prstGeom prst="rect">
            <a:avLst/>
          </a:prstGeom>
          <a:solidFill>
            <a:srgbClr val="0F192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05840"/>
            <a:ext cx="4023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0058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🎲  RandomizedSearchCV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92040" y="1691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7F3D0"/>
                </a:solidFill>
              </a:rPr>
              <a:t>Samples a fixed number of random combos from your param distribution. Fast and effective.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423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param_dist =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'n_estimators': range(50, 300),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'max_depth': [3, 5, 7, 10, None]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n_iter=20 → tries 20 random combos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DE80"/>
                </a:solidFill>
              </a:rPr>
              <a:t>✅ USE WHEN: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3685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• Much faster on large grids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3941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• Often finds near-optimal values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4197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• Good with continuous ranges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4462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</a:rPr>
              <a:t>💡 Rule of thumb: Start with Randomized, refine with Grid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Cross-Validation — Why One Split Is Not Enough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</a:rPr>
              <a:t>k-Fold Cross Validation  (k = 5)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Fold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98448" y="1463040"/>
            <a:ext cx="137160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1463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146304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463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87952" y="146304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7952" y="1463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32704" y="146304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1463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77456" y="146304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7456" y="1463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1965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Fold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98448" y="201168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2011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011680"/>
            <a:ext cx="13716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011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87952" y="201168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87952" y="2011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32704" y="201168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32704" y="2011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77456" y="201168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77456" y="2011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2514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Fold 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256032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98448" y="2560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0" y="256032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2560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87952" y="2560320"/>
            <a:ext cx="13716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87952" y="2560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32704" y="256032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32704" y="2560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77456" y="256032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77456" y="2560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Fold 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298448" y="310896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98448" y="3108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0" y="310896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0" y="3108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87952" y="310896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87952" y="3108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32704" y="3108960"/>
            <a:ext cx="137160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32704" y="3108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077456" y="310896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77456" y="3108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5760" y="3611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Fold 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298448" y="365760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98448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0" y="365760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187952" y="365760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87952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632704" y="3657600"/>
            <a:ext cx="1371600" cy="384048"/>
          </a:xfrm>
          <a:prstGeom prst="rect">
            <a:avLst/>
          </a:prstGeom>
          <a:solidFill>
            <a:srgbClr val="1A1033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32704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BA8"/>
                </a:solidFill>
              </a:rPr>
              <a:t>TRAIN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077456" y="3657600"/>
            <a:ext cx="13716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77456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4160520"/>
            <a:ext cx="2743200" cy="804672"/>
          </a:xfrm>
          <a:prstGeom prst="rect">
            <a:avLst/>
          </a:prstGeom>
          <a:solidFill>
            <a:srgbClr val="1A103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65760" y="4160520"/>
            <a:ext cx="27432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How it works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57200" y="4526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</a:rPr>
              <a:t>Splits data into k folds. Each fold is used as test once; the rest train. Final score = average of all k runs.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91840" y="4160520"/>
            <a:ext cx="2743200" cy="804672"/>
          </a:xfrm>
          <a:prstGeom prst="rect">
            <a:avLst/>
          </a:prstGeom>
          <a:solidFill>
            <a:srgbClr val="1A103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291840" y="4160520"/>
            <a:ext cx="27432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6" name="Text 64"/>
          <p:cNvSpPr/>
          <p:nvPr/>
        </p:nvSpPr>
        <p:spPr>
          <a:xfrm>
            <a:off x="3383280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Why use it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383280" y="4526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</a:rPr>
              <a:t>More reliable than a single train/test split. Reduces the risk of a lucky or unlucky split skewing your metric.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17920" y="4160520"/>
            <a:ext cx="2743200" cy="804672"/>
          </a:xfrm>
          <a:prstGeom prst="rect">
            <a:avLst/>
          </a:prstGeom>
          <a:solidFill>
            <a:srgbClr val="1A103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217920" y="4160520"/>
            <a:ext cx="27432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0" name="Text 68"/>
          <p:cNvSpPr/>
          <p:nvPr/>
        </p:nvSpPr>
        <p:spPr>
          <a:xfrm>
            <a:off x="6309360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With GridSearchCV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309360" y="4526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</a:rPr>
              <a:t>cv=5 inside GridSearchCV runs k-fold automatically. You get a cross_val_score per parameter combination.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Overfitting vs Underfitting — Detect &amp; Fix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8892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889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10058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📉  Underfitting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8328" y="1737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</a:rPr>
              <a:t>Model is too simple — fails to learn the data pattern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" y="23591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2563EB"/>
                </a:solidFill>
              </a:rPr>
              <a:t>SYMPTOMS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2615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Low train accuracy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28712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Low test 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3127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Model ignores features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" y="34015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4ADE80"/>
                </a:solidFill>
              </a:rPr>
              <a:t>FIXES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3657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→ Use a more complex model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" y="3931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→ Add more features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" y="4206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→ Reduce regularisation (↑ C)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72968" y="1005840"/>
            <a:ext cx="278892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1005840"/>
            <a:ext cx="278892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282696" y="10058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🎯  Just Right 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82696" y="1737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</a:rPr>
              <a:t>Model generalises well — learns without memorising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82696" y="23591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D9488"/>
                </a:solidFill>
              </a:rPr>
              <a:t>SYMPTOMS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82696" y="2615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Good train accuracy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82696" y="28712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Good test accuracy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82696" y="3127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Small train-test gap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82696" y="34015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4ADE80"/>
                </a:solidFill>
              </a:rPr>
              <a:t>FIXES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82696" y="3657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→ You're here!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82696" y="3931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→ Tune further with GridSearchCV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82696" y="4206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→ Save &amp; ship your .pkl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17336" y="1005840"/>
            <a:ext cx="278892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17336" y="1005840"/>
            <a:ext cx="2788920" cy="6583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6227064" y="10058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📈  Overfitting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27064" y="1737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</a:rPr>
              <a:t>Model memorises training data — fails on new data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27064" y="23591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DC2626"/>
                </a:solidFill>
              </a:rPr>
              <a:t>SYMPTOMS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27064" y="2615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Very high train accuracy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27064" y="28712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Low test accuracy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27064" y="3127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Large train-test gap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27064" y="34015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4ADE80"/>
                </a:solidFill>
              </a:rPr>
              <a:t>FIXES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27064" y="3657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→ Add more data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27064" y="3931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→ Reduce model complexity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27064" y="4206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→ Increase regularisation (↓ C, ↑ max_depth lim)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💻  Day 7 — Hands-On Coding Session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2344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123444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15568"/>
            <a:ext cx="457200" cy="384048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Load Best Day 6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078992"/>
            <a:ext cx="4572000" cy="109728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joblib, pandas as pd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...  # Same split as Day 6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= joblib.load('day6_best_model.pkl')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8595360" cy="12344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31720"/>
            <a:ext cx="73152" cy="12344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41448"/>
            <a:ext cx="457200" cy="38404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414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Apply GridSearchCV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2404872"/>
            <a:ext cx="4572000" cy="109728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GridSearchCV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param_grid = {'n_estimators': [50,100,200], 'max_depth': [3,5,10]}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GridSearchCV(RandomForestClassifier(), param_grid, cv=5, scoring='f1')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grid.fit(X_train, y_train)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print('Best params:', grid.best_params_)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5760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767328"/>
            <a:ext cx="4572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67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Plot &amp; Save Tuned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3730752"/>
            <a:ext cx="4572000" cy="109728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pd.DataFrame(grid.cv_results_)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plt.plot(results['mean_train_score'], label='Train')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plt.plot(results['mean_test_score'],  label='Validation')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plt.legend(); plt.title('Validation Curve'); plt.show()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joblib.dump(grid.best_estimator_, 'day7_tuned_model.pkl')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B"/>
                </a:solidFill>
              </a:rPr>
              <a:t>📦  Deliverable: day7_tuned_model.pkl + validation curve plot pushed to GitHub by 4:30 PM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DC2626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0"/>
            <a:ext cx="64008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384048"/>
            <a:ext cx="2743200" cy="47548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3840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INNOTRACK 2025  ·  TRACK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91440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B"/>
                </a:solidFill>
              </a:rPr>
              <a:t>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1F3B"/>
                </a:solidFill>
              </a:rPr>
              <a:t>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82880" y="28346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Learn.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Improve.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Deploy.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9144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CNN &amp;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11880" y="16916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0B981"/>
                </a:solidFill>
              </a:rPr>
              <a:t>Neural Networks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11880" y="26060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CA5A5"/>
                </a:solidFill>
              </a:rPr>
              <a:t>Your first taste of deep learning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CA5A5"/>
                </a:solidFill>
              </a:rPr>
              <a:t>with MNIST handwritten digits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11880" y="3566160"/>
            <a:ext cx="5212080" cy="68580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11880" y="35661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B"/>
                </a:solidFill>
              </a:rPr>
              <a:t>📦  DELIVERABLE — Colab notebook: CNN on MNIST achieving ≥95% test accuracy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11880" y="4663440"/>
            <a:ext cx="91440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54296" y="4663440"/>
            <a:ext cx="91440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654296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96712" y="4663440"/>
            <a:ext cx="9144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696712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B"/>
                </a:solidFill>
              </a:rPr>
              <a:t>D8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39128" y="4663440"/>
            <a:ext cx="91440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739128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81544" y="4663440"/>
            <a:ext cx="91440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81544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a Neural Network?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234440" y="19476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947672"/>
            <a:ext cx="1737360" cy="2286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947672"/>
            <a:ext cx="1737360" cy="6858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947672"/>
            <a:ext cx="1737360" cy="11430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1947672"/>
            <a:ext cx="1737360" cy="16002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4048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24048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2404872"/>
            <a:ext cx="1737360" cy="2286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2404872"/>
            <a:ext cx="1737360" cy="6858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2404872"/>
            <a:ext cx="1737360" cy="11430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28620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4440" y="28620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4440" y="28620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4440" y="2862072"/>
            <a:ext cx="1737360" cy="2286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2862072"/>
            <a:ext cx="1737360" cy="6858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4440" y="33192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33192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4440" y="33192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34440" y="33192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" y="3319272"/>
            <a:ext cx="1737360" cy="2286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1719072"/>
            <a:ext cx="1737360" cy="2286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1719072"/>
            <a:ext cx="1737360" cy="6858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1719072"/>
            <a:ext cx="1737360" cy="11430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1719072"/>
            <a:ext cx="1737360" cy="16002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21762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2176272"/>
            <a:ext cx="1737360" cy="2286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2176272"/>
            <a:ext cx="1737360" cy="6858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2176272"/>
            <a:ext cx="1737360" cy="11430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26334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26334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46120" y="2633472"/>
            <a:ext cx="1737360" cy="2286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46120" y="2633472"/>
            <a:ext cx="1737360" cy="6858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46120" y="30906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30906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46120" y="30906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46120" y="3090672"/>
            <a:ext cx="1737360" cy="2286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46120" y="35478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46120" y="35478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46120" y="35478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46120" y="35478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57800" y="1947672"/>
            <a:ext cx="1737360" cy="4572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57800" y="1947672"/>
            <a:ext cx="1737360" cy="9144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57800" y="24048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57800" y="2404872"/>
            <a:ext cx="1737360" cy="45720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7800" y="28620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57800" y="28620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57800" y="33192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57800" y="3319272"/>
            <a:ext cx="1737360" cy="0"/>
          </a:xfrm>
          <a:prstGeom prst="line">
            <a:avLst/>
          </a:prstGeom>
          <a:noFill/>
          <a:ln w="6350">
            <a:solidFill>
              <a:srgbClr val="2D204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41832" y="1783080"/>
            <a:ext cx="310896" cy="310896"/>
          </a:xfrm>
          <a:prstGeom prst="ellipse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41832" y="2240280"/>
            <a:ext cx="310896" cy="310896"/>
          </a:xfrm>
          <a:prstGeom prst="ellipse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41832" y="2697480"/>
            <a:ext cx="310896" cy="310896"/>
          </a:xfrm>
          <a:prstGeom prst="ellipse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41832" y="3154680"/>
            <a:ext cx="310896" cy="310896"/>
          </a:xfrm>
          <a:prstGeom prst="ellipse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94360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</a:rPr>
              <a:t>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</a:rPr>
              <a:t>Layer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953512" y="1554480"/>
            <a:ext cx="310896" cy="310896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953512" y="2011680"/>
            <a:ext cx="310896" cy="310896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953512" y="2468880"/>
            <a:ext cx="310896" cy="310896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953512" y="2926080"/>
            <a:ext cx="310896" cy="310896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953512" y="3383280"/>
            <a:ext cx="310896" cy="310896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2606040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</a:rPr>
              <a:t>Hidden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</a:rPr>
              <a:t>Layer 1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965192" y="1783080"/>
            <a:ext cx="310896" cy="310896"/>
          </a:xfrm>
          <a:prstGeom prst="ellipse">
            <a:avLst/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965192" y="2240280"/>
            <a:ext cx="310896" cy="310896"/>
          </a:xfrm>
          <a:prstGeom prst="ellipse">
            <a:avLst/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965192" y="2697480"/>
            <a:ext cx="310896" cy="310896"/>
          </a:xfrm>
          <a:prstGeom prst="ellipse">
            <a:avLst/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965192" y="3154680"/>
            <a:ext cx="310896" cy="310896"/>
          </a:xfrm>
          <a:prstGeom prst="ellipse">
            <a:avLst/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617720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</a:rPr>
              <a:t>Hidden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</a:rPr>
              <a:t>Layer 2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976872" y="2240280"/>
            <a:ext cx="310896" cy="310896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976872" y="2697480"/>
            <a:ext cx="310896" cy="310896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6629400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Layer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406640" y="1005840"/>
            <a:ext cx="1600200" cy="896112"/>
          </a:xfrm>
          <a:prstGeom prst="rect">
            <a:avLst/>
          </a:prstGeom>
          <a:solidFill>
            <a:srgbClr val="1A0A0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7406640" y="1005840"/>
            <a:ext cx="160020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3" name="Text 71"/>
          <p:cNvSpPr/>
          <p:nvPr/>
        </p:nvSpPr>
        <p:spPr>
          <a:xfrm>
            <a:off x="7452360" y="11155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Neuron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452360" y="138988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CA5A5"/>
                </a:solidFill>
              </a:rPr>
              <a:t>A node that receives inputs, applies a weight, and passes through an activation function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406640" y="2011680"/>
            <a:ext cx="1600200" cy="896112"/>
          </a:xfrm>
          <a:prstGeom prst="rect">
            <a:avLst/>
          </a:prstGeom>
          <a:solidFill>
            <a:srgbClr val="1A0A0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7406640" y="2011680"/>
            <a:ext cx="160020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7" name="Text 75"/>
          <p:cNvSpPr/>
          <p:nvPr/>
        </p:nvSpPr>
        <p:spPr>
          <a:xfrm>
            <a:off x="7452360" y="21214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7452360" y="23957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CA5A5"/>
                </a:solidFill>
              </a:rPr>
              <a:t>A group of neurons. Deep networks have many hidden layers between input &amp; output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7406640" y="3017520"/>
            <a:ext cx="1600200" cy="896112"/>
          </a:xfrm>
          <a:prstGeom prst="rect">
            <a:avLst/>
          </a:prstGeom>
          <a:solidFill>
            <a:srgbClr val="1A0A0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7406640" y="3017520"/>
            <a:ext cx="160020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1" name="Text 79"/>
          <p:cNvSpPr/>
          <p:nvPr/>
        </p:nvSpPr>
        <p:spPr>
          <a:xfrm>
            <a:off x="7452360" y="31272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Activation fn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452360" y="34015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CA5A5"/>
                </a:solidFill>
              </a:rPr>
              <a:t>ReLU (hidden), Sigmoid (binary output), Softmax (multi-class) — adds non-linearity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406640" y="4023360"/>
            <a:ext cx="1600200" cy="896112"/>
          </a:xfrm>
          <a:prstGeom prst="rect">
            <a:avLst/>
          </a:prstGeom>
          <a:solidFill>
            <a:srgbClr val="1A0A0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7406640" y="4023360"/>
            <a:ext cx="160020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5" name="Text 83"/>
          <p:cNvSpPr/>
          <p:nvPr/>
        </p:nvSpPr>
        <p:spPr>
          <a:xfrm>
            <a:off x="7452360" y="41330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Forward pass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452360" y="440740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CA5A5"/>
                </a:solidFill>
              </a:rPr>
              <a:t>Data flows input → hidden → output. Each layer transforms the data progressively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3B"/>
                </a:solidFill>
              </a:rPr>
              <a:t>Intro to Keras &amp; TensorFlow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97280"/>
          </a:xfrm>
          <a:prstGeom prst="rect">
            <a:avLst/>
          </a:prstGeom>
          <a:solidFill>
            <a:srgbClr val="0F1A0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TensorFlow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7F3D0"/>
                </a:solidFill>
              </a:rPr>
              <a:t>Google's open-source ML framework. Handles the heavy maths (tensors, gradients, GPU ops) under the hood.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1097280"/>
          </a:xfrm>
          <a:prstGeom prst="rect">
            <a:avLst/>
          </a:prstGeom>
          <a:solidFill>
            <a:srgbClr val="0F1A0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11480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Keras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4447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ED7AA"/>
                </a:solidFill>
              </a:rPr>
              <a:t>High-level API built on TensorFlow. Lets you build &amp; train neural networks in just a few lines of Python.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267712"/>
            <a:ext cx="84124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267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B"/>
                </a:solidFill>
              </a:rPr>
              <a:t>Building Your First Keras Model — Step by Step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679192"/>
            <a:ext cx="4114800" cy="107899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79192"/>
            <a:ext cx="73152" cy="10789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530352" y="2770632"/>
            <a:ext cx="41148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7706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Import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1546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 import keras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tensorflow.keras import layers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679192"/>
            <a:ext cx="4114800" cy="107899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679192"/>
            <a:ext cx="73152" cy="107899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2" name="Shape 20"/>
          <p:cNvSpPr/>
          <p:nvPr/>
        </p:nvSpPr>
        <p:spPr>
          <a:xfrm>
            <a:off x="4828032" y="2770632"/>
            <a:ext cx="411480" cy="34747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27706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31546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keras.Sequential([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layers.Flatten(input_shape=(28,28)),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layers.Dense(128, activation='relu'),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layers.Dense(10,  activation='softmax')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867912"/>
            <a:ext cx="4114800" cy="107899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867912"/>
            <a:ext cx="73152" cy="10789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Shape 26"/>
          <p:cNvSpPr/>
          <p:nvPr/>
        </p:nvSpPr>
        <p:spPr>
          <a:xfrm>
            <a:off x="530352" y="3959352"/>
            <a:ext cx="41148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" y="39593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3977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Compile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" y="4343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optimizer='adam',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loss='sparse_categorical_crossentropy',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metrics=['accuracy']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3867912"/>
            <a:ext cx="4114800" cy="107899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867912"/>
            <a:ext cx="73152" cy="10789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4828032" y="3959352"/>
            <a:ext cx="41148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39593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0096" y="3977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28032" y="4343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model.fit(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X_train, y_train,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epochs=5, validation_split=0.1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CNN — Convolutional Layers Explained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188720" cy="1645920"/>
          </a:xfrm>
          <a:prstGeom prst="rect">
            <a:avLst/>
          </a:prstGeom>
          <a:solidFill>
            <a:srgbClr val="1D4ED8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1188720" cy="1097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8988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Image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CA5A5"/>
                </a:solidFill>
              </a:rPr>
              <a:t>28×28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CA5A5"/>
                </a:solidFill>
              </a:rPr>
              <a:t>pixels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63040" y="2011680"/>
            <a:ext cx="20116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8745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55648" y="1188720"/>
            <a:ext cx="1371600" cy="1645920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55648" y="1188720"/>
            <a:ext cx="1371600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755648" y="13898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Conv2D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55648" y="2011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CA5A5"/>
                </a:solidFill>
              </a:rPr>
              <a:t>Detects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CA5A5"/>
                </a:solidFill>
              </a:rPr>
              <a:t>edges/curves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27248" y="2011680"/>
            <a:ext cx="20116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8745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19856" y="1188720"/>
            <a:ext cx="1188720" cy="164592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19856" y="1188720"/>
            <a:ext cx="11887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419856" y="138988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MaxPool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19856" y="20116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CA5A5"/>
                </a:solidFill>
              </a:rPr>
              <a:t>Shrinks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CA5A5"/>
                </a:solidFill>
              </a:rPr>
              <a:t>&amp; retains best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08576" y="2011680"/>
            <a:ext cx="20116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18745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01184" y="1188720"/>
            <a:ext cx="1371600" cy="1645920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01184" y="1188720"/>
            <a:ext cx="1371600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4901184" y="13898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Conv2D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01184" y="2011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CA5A5"/>
                </a:solidFill>
              </a:rPr>
              <a:t>Detects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CA5A5"/>
                </a:solidFill>
              </a:rPr>
              <a:t>patterns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72784" y="2011680"/>
            <a:ext cx="20116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18745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65392" y="1188720"/>
            <a:ext cx="1188720" cy="164592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65392" y="1188720"/>
            <a:ext cx="11887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6565392" y="138988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MaxPool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65392" y="20116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CA5A5"/>
                </a:solidFill>
              </a:rPr>
              <a:t>Compress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CA5A5"/>
                </a:solidFill>
              </a:rPr>
              <a:t>features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54112" y="2011680"/>
            <a:ext cx="20116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45552" y="18745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46720" y="1161288"/>
            <a:ext cx="1188720" cy="164592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0" y="1170432"/>
            <a:ext cx="1195251" cy="1005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0" y="13898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Flatten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→Dense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0" y="2011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CA5A5"/>
                </a:solidFill>
              </a:rPr>
              <a:t>Classify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CA5A5"/>
                </a:solidFill>
              </a:rPr>
              <a:t>digit 0-9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063240"/>
            <a:ext cx="2834640" cy="1810512"/>
          </a:xfrm>
          <a:prstGeom prst="rect">
            <a:avLst/>
          </a:prstGeom>
          <a:solidFill>
            <a:srgbClr val="18050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3063240"/>
            <a:ext cx="283464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384048" y="3136392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Conv2D — What It Does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84048" y="3566160"/>
            <a:ext cx="2633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A5A5"/>
                </a:solidFill>
              </a:rPr>
              <a:t>Slides a small filter (e.g. 3×3) across the image, detecting features like horizontal edges, curves, or specific textures.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46120" y="3063240"/>
            <a:ext cx="2834640" cy="1810512"/>
          </a:xfrm>
          <a:prstGeom prst="rect">
            <a:avLst/>
          </a:prstGeom>
          <a:solidFill>
            <a:srgbClr val="18050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46120" y="3063240"/>
            <a:ext cx="283464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3355848" y="3136392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MaxPooling2D — What It Does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55848" y="3566160"/>
            <a:ext cx="2633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A5A5"/>
                </a:solidFill>
              </a:rPr>
              <a:t>Takes the maximum value in each small region. Reduces spatial size by 2×2, keeping the strongest signals while losing noise.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3063240"/>
            <a:ext cx="2834640" cy="1810512"/>
          </a:xfrm>
          <a:prstGeom prst="rect">
            <a:avLst/>
          </a:prstGeom>
          <a:solidFill>
            <a:srgbClr val="18050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17920" y="3063240"/>
            <a:ext cx="28346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6327648" y="3136392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CNN Beats Dense for Images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27648" y="3566160"/>
            <a:ext cx="2633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A5A5"/>
                </a:solidFill>
              </a:rPr>
              <a:t>Dense networks treat pixels as independent. CNNs understand spatial relationships — a '7' looks the same shifted left or right.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MNIST — Your Deep Learning Playground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15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</a:rPr>
              <a:t>70,000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Handwritten digit images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41448" y="1005840"/>
            <a:ext cx="201168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41448" y="1005840"/>
            <a:ext cx="201168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2441448" y="1115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</a:rPr>
              <a:t>28×28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1448" y="16276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Pixels per image (grayscale)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08576" y="1005840"/>
            <a:ext cx="201168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1005840"/>
            <a:ext cx="201168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1115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</a:rPr>
              <a:t>10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08576" y="16276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Classes — digits 0 through 9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75704" y="1005840"/>
            <a:ext cx="201168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75704" y="1005840"/>
            <a:ext cx="201168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775704" y="1115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</a:rPr>
              <a:t>≥99%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75704" y="16276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State-of-the-art accuracy achievable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331720"/>
            <a:ext cx="4206240" cy="256032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331720"/>
            <a:ext cx="420624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3317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Loading MNIST in Keras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2743200"/>
            <a:ext cx="3977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tensorflow.keras.datasets import mnist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(X_train, y_train), (X_test, y_test) = mnist.load_data()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Normalise pixel values 0–255 → 0.0–1.0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 = X_train / 255.0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  = X_test  / 255.0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print(X_train.shape)  # (60000, 28, 28)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print(X_test.shape)   # (10000, 28, 28)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print(y_train[:5])    # [5 0 4 1 9]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411480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31720"/>
            <a:ext cx="411480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331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B"/>
                </a:solidFill>
              </a:rPr>
              <a:t>What Each Sample Looks Like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816352"/>
            <a:ext cx="38862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4956048" y="2816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X_train[i]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9360" y="2816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A 28×28 grid of pixel values (0=black, 255=white)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346704"/>
            <a:ext cx="38862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4956048" y="33467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y_train[i]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09360" y="33467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An integer label: 0, 1, 2, ... 9 (the digit drawn)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877056"/>
            <a:ext cx="38862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4956048" y="3877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to CNN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09360" y="38770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Reshape to (28, 28, 1) for Conv2D — adds channel dim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4407408"/>
            <a:ext cx="38862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4956048" y="44074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layer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09360" y="44074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10 neurons with softmax → probability for each digit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💻  Day 8 — Hands-On Coding Session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2344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1234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15568"/>
            <a:ext cx="457200" cy="38404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Dense Network (Baseline)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078992"/>
            <a:ext cx="4617720" cy="109728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keras.Sequential([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layers.Flatten(input_shape=(28,28)),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layers.Dense(128, activation='relu'),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layers.Dense(10, activation='softmax')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model.compile(optimizer='adam', loss='sparse_categorical_crossentropy', metrics=['accuracy'])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y_train, epochs=5)  # ~97% test acc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8595360" cy="12344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31720"/>
            <a:ext cx="73152" cy="1234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41448"/>
            <a:ext cx="45720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414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Add Conv2D + MaxPooling (CNN)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2404872"/>
            <a:ext cx="4617720" cy="109728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keras.Sequential([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layers.Reshape((28,28,1), input_shape=(28,28)),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layers.Conv2D(32, (3,3), activation='relu'),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layers.MaxPooling2D(2,2),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layers.Conv2D(64, (3,3), activation='relu'),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layers.MaxPooling2D(2,2),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layers.Flatten(),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layers.Dense(64, activation='relu'),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layers.Dense(10, activation='softmax')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57600"/>
            <a:ext cx="73152" cy="1234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767328"/>
            <a:ext cx="45720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67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 5 Epochs &amp; Check Accuracy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3730752"/>
            <a:ext cx="4617720" cy="109728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model.compile(optimizer='adam', loss='sparse_categorical_crossentropy', metrics=['accuracy'])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model.fit(X_train, y_train, epochs=5, validation_split=0.1)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test_loss, test_acc = model.evaluate(X_test, y_test)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print(f'Test accuracy: {test_acc:.4f}')  # Should be ≥ 0.95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B"/>
                </a:solidFill>
              </a:rPr>
              <a:t>📦  Deliverable: Colab notebook with CNN on MNIST achieving ≥95% test accuracy pushed to GitHub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Days 7 &amp; 8 —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02920" cy="356616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502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DAY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86968" y="1051560"/>
            <a:ext cx="3520440" cy="713232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7552" y="10515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🎛️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05156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Hyperparameters control HOW your model learns — always tune them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86968" y="1920240"/>
            <a:ext cx="3520440" cy="713232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19202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192024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GridSearchCV is exhaustive; RandomizedSearchCV is faster — use both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6968" y="2788920"/>
            <a:ext cx="3520440" cy="713232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87552" y="27889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78892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k-Fold cross-validation gives a fairer accuracy estimate than one split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6968" y="3657600"/>
            <a:ext cx="3520440" cy="713232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87552" y="36576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65760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Validation curves reveal overfitting — train &amp; test scores diverge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1005840"/>
            <a:ext cx="502920" cy="3566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005840"/>
            <a:ext cx="502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DAY 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30368" y="1051560"/>
            <a:ext cx="3520440" cy="713232"/>
          </a:xfrm>
          <a:prstGeom prst="rect">
            <a:avLst/>
          </a:prstGeom>
          <a:solidFill>
            <a:srgbClr val="1A0A0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30952" y="10515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897880" y="105156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Neural networks learn features automatically — no manual feature 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30368" y="1920240"/>
            <a:ext cx="3520440" cy="713232"/>
          </a:xfrm>
          <a:prstGeom prst="rect">
            <a:avLst/>
          </a:prstGeom>
          <a:solidFill>
            <a:srgbClr val="1A0A0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30952" y="19202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97880" y="192024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CNNs understand spatial patterns — ideal for image tasks like MNIST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30368" y="2788920"/>
            <a:ext cx="3520440" cy="713232"/>
          </a:xfrm>
          <a:prstGeom prst="rect">
            <a:avLst/>
          </a:prstGeom>
          <a:solidFill>
            <a:srgbClr val="1A0A0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30952" y="27889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897880" y="278892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Keras makes deep learning simple — build a CNN in under 15 lines of code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30368" y="3657600"/>
            <a:ext cx="3520440" cy="713232"/>
          </a:xfrm>
          <a:prstGeom prst="rect">
            <a:avLst/>
          </a:prstGeom>
          <a:solidFill>
            <a:srgbClr val="1A0A0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30952" y="36576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897880" y="365760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Dense networks ≈ 97%, CNN ≥ 99% — architecture choice matters enormously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B"/>
                </a:solidFill>
              </a:rPr>
              <a:t>🔜  TOMORROW — Day 9: Data Visualization · Seaborn · Matplotlib · Power BI Dashboard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1926</Words>
  <Application>Microsoft Office PowerPoint</Application>
  <PresentationFormat>On-screen Show (16:9)</PresentationFormat>
  <Paragraphs>357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AKHIL MANIKANDAN</cp:lastModifiedBy>
  <cp:revision>3</cp:revision>
  <dcterms:created xsi:type="dcterms:W3CDTF">2026-06-05T01:50:21Z</dcterms:created>
  <dcterms:modified xsi:type="dcterms:W3CDTF">2026-06-08T04:34:37Z</dcterms:modified>
</cp:coreProperties>
</file>