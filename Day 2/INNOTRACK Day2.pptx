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63874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03520" cy="514350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303520" cy="73152"/>
          </a:xfrm>
          <a:prstGeom prst="rect">
            <a:avLst/>
          </a:prstGeom>
          <a:solidFill>
            <a:srgbClr val="E8650A"/>
          </a:solidFill>
          <a:ln w="12700">
            <a:solidFill>
              <a:srgbClr val="E8650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502920"/>
            <a:ext cx="1371600" cy="228600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029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TRACK 1  ·  DAY 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Flow,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D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&amp;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57200" y="3154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the right way — write logic that actually runs.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611880"/>
            <a:ext cx="438912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749040"/>
            <a:ext cx="2103120" cy="292608"/>
          </a:xfrm>
          <a:prstGeom prst="rect">
            <a:avLst/>
          </a:prstGeom>
          <a:solidFill>
            <a:srgbClr val="1E4D8C"/>
          </a:solidFill>
          <a:ln w="6350">
            <a:solidFill>
              <a:srgbClr val="1D6F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74904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/ elif / else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697480" y="3749040"/>
            <a:ext cx="2103120" cy="292608"/>
          </a:xfrm>
          <a:prstGeom prst="rect">
            <a:avLst/>
          </a:prstGeom>
          <a:solidFill>
            <a:srgbClr val="1E4D8C"/>
          </a:solidFill>
          <a:ln w="6350">
            <a:solidFill>
              <a:srgbClr val="1D6F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97480" y="374904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&amp; while loops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133088"/>
            <a:ext cx="2103120" cy="292608"/>
          </a:xfrm>
          <a:prstGeom prst="rect">
            <a:avLst/>
          </a:prstGeom>
          <a:solidFill>
            <a:srgbClr val="1E4D8C"/>
          </a:solidFill>
          <a:ln w="6350">
            <a:solidFill>
              <a:srgbClr val="1D6F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13308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&amp; return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697480" y="4133088"/>
            <a:ext cx="2103120" cy="292608"/>
          </a:xfrm>
          <a:prstGeom prst="rect">
            <a:avLst/>
          </a:prstGeom>
          <a:solidFill>
            <a:srgbClr val="1E4D8C"/>
          </a:solidFill>
          <a:ln w="6350">
            <a:solidFill>
              <a:srgbClr val="1D6F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97480" y="413308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scope &amp; errors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0" y="365760"/>
            <a:ext cx="3383280" cy="438912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623560" y="5486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Day 2 — Python Logic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623560" y="914400"/>
            <a:ext cx="31546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r>
              <a:rPr lang="en-US" sz="1200" dirty="0">
                <a:solidFill>
                  <a:srgbClr val="1D6F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greet</a:t>
            </a: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(name):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== </a:t>
            </a:r>
            <a:r>
              <a:rPr lang="en-US" sz="120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"Innoloft"</a:t>
            </a: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6F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20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('Welcome!')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6F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20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('Hello,', name)</a:t>
            </a: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</a:t>
            </a: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</a:t>
            </a:r>
            <a:r>
              <a:rPr lang="en-US" sz="12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</a:t>
            </a:r>
            <a:r>
              <a:rPr lang="en-US" sz="1200" dirty="0">
                <a:solidFill>
                  <a:srgbClr val="1D6F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(5):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6F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greet</a:t>
            </a: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"Student"</a:t>
            </a: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INNOLOFT VENTURES  ·  InnoTrack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371600" cy="228600"/>
          </a:xfrm>
          <a:prstGeom prst="rect">
            <a:avLst/>
          </a:prstGeom>
          <a:solidFill>
            <a:srgbClr val="E8650A"/>
          </a:solidFill>
          <a:ln w="12700">
            <a:solidFill>
              <a:srgbClr val="E865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TOPIC 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/ elif / else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makes decisions using conditional statements.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4023360" cy="713232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417320"/>
            <a:ext cx="45720" cy="713232"/>
          </a:xfrm>
          <a:prstGeom prst="rect">
            <a:avLst/>
          </a:prstGeom>
          <a:solidFill>
            <a:srgbClr val="1D6FD8"/>
          </a:solidFill>
          <a:ln w="12700">
            <a:solidFill>
              <a:srgbClr val="1D6F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49047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6F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50876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block only when condition is True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258568"/>
            <a:ext cx="4023360" cy="713232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258568"/>
            <a:ext cx="45720" cy="713232"/>
          </a:xfrm>
          <a:prstGeom prst="rect">
            <a:avLst/>
          </a:prstGeom>
          <a:solidFill>
            <a:srgbClr val="1D6FD8"/>
          </a:solidFill>
          <a:ln w="12700">
            <a:solidFill>
              <a:srgbClr val="1D6F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23317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6F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34440" y="2350008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another condition if the first was False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099816"/>
            <a:ext cx="4023360" cy="713232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099816"/>
            <a:ext cx="45720" cy="713232"/>
          </a:xfrm>
          <a:prstGeom prst="rect">
            <a:avLst/>
          </a:prstGeom>
          <a:solidFill>
            <a:srgbClr val="1D6FD8"/>
          </a:solidFill>
          <a:ln w="12700">
            <a:solidFill>
              <a:srgbClr val="1D6F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317296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6F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3191256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when ALL conditions above are False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4023360"/>
            <a:ext cx="4023360" cy="749808"/>
          </a:xfrm>
          <a:prstGeom prst="rect">
            <a:avLst/>
          </a:prstGeom>
          <a:solidFill>
            <a:srgbClr val="CBD5E1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" y="4096512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Indentation is NOT optional in Python.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block must be indented by exactly 4 spaces.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1325880"/>
            <a:ext cx="4206240" cy="349300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00600" y="146304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Example — Grade checker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00600" y="1737360"/>
            <a:ext cx="39319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marks </a:t>
            </a:r>
            <a:r>
              <a:rPr lang="en-US" sz="1200" dirty="0">
                <a:solidFill>
                  <a:srgbClr val="1D6F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int</a:t>
            </a: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1D6F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"Enter marks: "</a:t>
            </a: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
</a:t>
            </a:r>
            <a:r>
              <a:rPr lang="en-US" sz="12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marks &gt;= 90: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6F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"Grade: A"</a:t>
            </a: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r>
              <a:rPr lang="en-US" sz="12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</a:t>
            </a: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marks &gt;= 75: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6F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"Grade: B"</a:t>
            </a: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r>
              <a:rPr lang="en-US" sz="12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</a:t>
            </a: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marks &gt;= 60: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6F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"Grade: C"</a:t>
            </a: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r>
              <a:rPr lang="en-US" sz="12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6F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"Grade: F — Study harder!"</a:t>
            </a: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INNOLOFT VENTURES  ·  InnoTrack 2026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371600" cy="228600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TOPIC 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Loops  &amp;  while Loops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actions automatically — don't write the same code 100 times.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4114800" cy="22860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71600"/>
            <a:ext cx="45720" cy="22860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173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loop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66420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you know how many times to repeat.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1938528"/>
            <a:ext cx="37490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</a:t>
            </a: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</a:t>
            </a:r>
            <a:r>
              <a:rPr lang="en-US" sz="12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</a:t>
            </a:r>
            <a:r>
              <a:rPr lang="en-US" sz="1200" dirty="0">
                <a:solidFill>
                  <a:srgbClr val="1D6F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(1, 6):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6F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"Day"</a:t>
            </a: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i)
</a:t>
            </a: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Output:
# Day 1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Day 2 ... Day 5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371600"/>
            <a:ext cx="4114800" cy="22860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371600"/>
            <a:ext cx="45720" cy="228600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4173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loop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166420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you repeat UNTIL a condition becomes False.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46320" y="1938528"/>
            <a:ext cx="37490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 </a:t>
            </a:r>
            <a:r>
              <a:rPr lang="en-US" sz="1200" dirty="0">
                <a:solidFill>
                  <a:srgbClr val="1D6F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r>
              <a:rPr lang="en-US" sz="120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
</a:t>
            </a:r>
            <a:r>
              <a:rPr lang="en-US" sz="12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</a:t>
            </a: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 &lt;= 5: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dirty="0">
                <a:solidFill>
                  <a:srgbClr val="1D6F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(count)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 </a:t>
            </a:r>
            <a:r>
              <a:rPr lang="en-US" sz="1200" dirty="0">
                <a:solidFill>
                  <a:srgbClr val="1D6F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+= 1
</a:t>
            </a: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⚠️ Always update
</a:t>
            </a:r>
            <a:r>
              <a:rPr lang="en-US" sz="1200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 counter or it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loops forever!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794760"/>
            <a:ext cx="8412480" cy="9601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94360" y="391363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  — exits the loop immediately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26280" y="3886200"/>
            <a:ext cx="27432" cy="64008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391363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continue  — skips current iteration only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4360" y="4251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range(start, stop, step)  is your best friend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INNOLOFT VENTURES  ·  InnoTrack 2026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371600" cy="228600"/>
          </a:xfrm>
          <a:prstGeom prst="rect">
            <a:avLst/>
          </a:prstGeom>
          <a:solidFill>
            <a:srgbClr val="E8650A"/>
          </a:solidFill>
          <a:ln w="12700">
            <a:solidFill>
              <a:srgbClr val="E865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TOPIC 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 —  def &amp; return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once, use anywhere. Functions keep your code clean and reusable.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353312"/>
            <a:ext cx="8412480" cy="129844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481328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r>
              <a:rPr lang="en-US" sz="1600" b="1" dirty="0">
                <a:solidFill>
                  <a:srgbClr val="1D6F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add_numbers</a:t>
            </a:r>
            <a:r>
              <a:rPr lang="en-US" sz="16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a, b</a:t>
            </a:r>
            <a:r>
              <a:rPr lang="en-US" sz="16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  result </a:t>
            </a:r>
            <a:r>
              <a:rPr lang="en-US" sz="1600" dirty="0">
                <a:solidFill>
                  <a:srgbClr val="1D6F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r>
              <a:rPr lang="en-US" sz="16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</a:t>
            </a:r>
            <a:r>
              <a:rPr lang="en-US" sz="1600" dirty="0">
                <a:solidFill>
                  <a:srgbClr val="1D6F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</a:t>
            </a:r>
            <a:r>
              <a:rPr lang="en-US" sz="16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b;  </a:t>
            </a:r>
            <a:r>
              <a:rPr lang="en-US" sz="16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r>
              <a:rPr lang="en-US" sz="16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187452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6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417320" y="187452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D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name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46120" y="187452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760720" y="187452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value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2834640"/>
            <a:ext cx="4114800" cy="193852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290779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the function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3163824"/>
            <a:ext cx="374904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Define
</a:t>
            </a:r>
            <a:r>
              <a:rPr lang="en-US" sz="12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r>
              <a:rPr lang="en-US" sz="1200" dirty="0">
                <a:solidFill>
                  <a:srgbClr val="1D6F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add_numbers</a:t>
            </a: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(a, b):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+ b
</a:t>
            </a: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Call it
</a:t>
            </a: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</a:t>
            </a:r>
            <a:r>
              <a:rPr lang="en-US" sz="1200" dirty="0">
                <a:solidFill>
                  <a:srgbClr val="1D6F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add_numbers</a:t>
            </a: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(10, 20)
</a:t>
            </a:r>
            <a:r>
              <a:rPr lang="en-US" sz="1200" dirty="0">
                <a:solidFill>
                  <a:srgbClr val="1D6F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(total)  </a:t>
            </a:r>
            <a:r>
              <a:rPr lang="en-US" sz="12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30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2834640"/>
            <a:ext cx="4114800" cy="193852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46320" y="28803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Parameters are inputs inside (  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846320" y="322783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return sends the result back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846320" y="357530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Without return → function gives None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846320" y="392277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You can have default parameter values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46320" y="427024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Functions can call other functions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INNOLOFT VENTURES  ·  InnoTrack 2026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371600" cy="228600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TOPIC 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 &amp;  Common Errors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where your variables live — and why your code sometimes breaks.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1965960" cy="169164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71600"/>
            <a:ext cx="45720" cy="16916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41732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 Scope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0352" y="1709928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exists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inside 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30352" y="224028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D6F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=5
</a:t>
            </a:r>
            <a:r>
              <a:rPr lang="en-US" sz="1000" dirty="0">
                <a:solidFill>
                  <a:srgbClr val="1D6F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(x)
</a:t>
            </a:r>
            <a:r>
              <a:rPr lang="en-US" sz="1000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#Error!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68880" y="1371600"/>
            <a:ext cx="1965960" cy="169164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68880" y="1371600"/>
            <a:ext cx="45720" cy="1691640"/>
          </a:xfrm>
          <a:prstGeom prst="rect">
            <a:avLst/>
          </a:prstGeom>
          <a:solidFill>
            <a:srgbClr val="1D6FD8"/>
          </a:solidFill>
          <a:ln w="12700">
            <a:solidFill>
              <a:srgbClr val="1D6F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33472" y="141732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6F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Global Scope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33472" y="1709928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exists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everywhere in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file.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633472" y="224028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D6F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00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="Inno"
</a:t>
            </a:r>
            <a:r>
              <a:rPr lang="en-US" sz="10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D6F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(name)
</a:t>
            </a:r>
            <a:r>
              <a:rPr lang="en-US" sz="10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f() # Works!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1371600"/>
            <a:ext cx="4114800" cy="349300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0" y="14447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Errors You Will See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28032" y="1810512"/>
            <a:ext cx="3794760" cy="512064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9472" y="184708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IndentationError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19472" y="20574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indentation — use 4 spaces always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28032" y="2386584"/>
            <a:ext cx="3794760" cy="512064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9472" y="242316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SyntaxError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19472" y="263347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colon : after if/for/def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28032" y="2962656"/>
            <a:ext cx="3794760" cy="512064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9472" y="299923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NameError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19472" y="320954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used before it was defined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28032" y="3538728"/>
            <a:ext cx="3794760" cy="512064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9472" y="357530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TypeError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19472" y="378561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data type — e.g. adding str + int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28032" y="4114800"/>
            <a:ext cx="3794760" cy="512064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19472" y="415137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6F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ZeroDivisionError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19472" y="436168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Dividing a number by zero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INNOLOFT VENTURES  ·  InnoTrack 2026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371600" cy="2286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LIVE CODE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All Together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complete Python program using if, for, and functions together.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353312"/>
            <a:ext cx="5120640" cy="345643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46304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Number Guessing Game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66928" y="1865376"/>
            <a:ext cx="4754880" cy="2944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
</a:t>
            </a:r>
            <a:r>
              <a:rPr lang="en-US" sz="11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r>
              <a:rPr lang="en-US" sz="1150" dirty="0">
                <a:solidFill>
                  <a:srgbClr val="1D6F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check_guess</a:t>
            </a: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(secret, guess):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guess == secret: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1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r>
              <a:rPr lang="en-US" sz="115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"Correct! 🎉"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50" dirty="0" err="1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</a:t>
            </a:r>
            <a:r>
              <a:rPr lang="en-US" sz="11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guess &lt; secret: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1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r>
              <a:rPr lang="en-US" sz="115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"Too low! Try higher"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1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r>
              <a:rPr lang="en-US" sz="115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"Too high! Try lower"
</a:t>
            </a: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secret </a:t>
            </a:r>
            <a:r>
              <a:rPr lang="en-US" sz="1150" dirty="0">
                <a:solidFill>
                  <a:srgbClr val="1D6F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random.randint(1, 10)
</a:t>
            </a:r>
            <a:r>
              <a:rPr lang="en-US" sz="11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</a:t>
            </a: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attempt </a:t>
            </a:r>
            <a:r>
              <a:rPr lang="en-US" sz="11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</a:t>
            </a: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range(3):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guess </a:t>
            </a:r>
            <a:r>
              <a:rPr lang="en-US" sz="1150" dirty="0">
                <a:solidFill>
                  <a:srgbClr val="1D6F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int</a:t>
            </a: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50" dirty="0">
                <a:solidFill>
                  <a:srgbClr val="1D6F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5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"Guess: "</a:t>
            </a: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50" dirty="0">
                <a:solidFill>
                  <a:srgbClr val="1D6F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50" dirty="0">
                <a:solidFill>
                  <a:srgbClr val="1D6F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check_guess</a:t>
            </a: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(secret, guess))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669280" y="1353312"/>
            <a:ext cx="3108960" cy="1627632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669280" y="1353312"/>
            <a:ext cx="45720" cy="1627632"/>
          </a:xfrm>
          <a:prstGeom prst="rect">
            <a:avLst/>
          </a:prstGeom>
          <a:solidFill>
            <a:srgbClr val="E8650A"/>
          </a:solidFill>
          <a:ln w="12700">
            <a:solidFill>
              <a:srgbClr val="E8650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33872" y="14173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used: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833872" y="171907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import module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33872" y="195681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def + return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833872" y="21945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if / elif / else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833872" y="2432304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for + range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833872" y="267004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input() + int()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0" y="3127248"/>
            <a:ext cx="3108960" cy="1682496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833872" y="32004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833872" y="3474720"/>
            <a:ext cx="28346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Guess: </a:t>
            </a:r>
            <a:r>
              <a:rPr lang="en-US" sz="110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
</a:t>
            </a:r>
            <a:r>
              <a:rPr lang="en-US" sz="1100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 low! Try higher
</a:t>
            </a: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Guess: </a:t>
            </a:r>
            <a:r>
              <a:rPr lang="en-US" sz="110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
</a:t>
            </a:r>
            <a:r>
              <a:rPr lang="en-US" sz="1100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 high! Try lower
</a:t>
            </a: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Guess: </a:t>
            </a:r>
            <a:r>
              <a:rPr lang="en-US" sz="110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
</a:t>
            </a:r>
            <a:r>
              <a:rPr lang="en-US" sz="11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Correct! 🎉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INNOLOFT VENTURES  ·  InnoTrack 2026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371600" cy="228600"/>
          </a:xfrm>
          <a:prstGeom prst="rect">
            <a:avLst/>
          </a:prstGeom>
          <a:solidFill>
            <a:srgbClr val="E8650A"/>
          </a:solidFill>
          <a:ln w="12700">
            <a:solidFill>
              <a:srgbClr val="E865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HANDS-ON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Practice Tasks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all 4 tasks. Push each one to your GitHub repo before 5 PM.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4251960" cy="16459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71600"/>
            <a:ext cx="45720" cy="1645920"/>
          </a:xfrm>
          <a:prstGeom prst="rect">
            <a:avLst/>
          </a:prstGeom>
          <a:solidFill>
            <a:srgbClr val="1D6FD8"/>
          </a:solidFill>
          <a:ln w="12700">
            <a:solidFill>
              <a:srgbClr val="1D6F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1463040"/>
            <a:ext cx="384048" cy="384048"/>
          </a:xfrm>
          <a:prstGeom prst="rect">
            <a:avLst/>
          </a:prstGeom>
          <a:solidFill>
            <a:srgbClr val="1D6FD8"/>
          </a:solidFill>
          <a:ln w="12700">
            <a:solidFill>
              <a:srgbClr val="1D6F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24128" y="1481328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Calculator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30352" y="1847088"/>
            <a:ext cx="3931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function get_grade(marks) that takes a student's marks (0-100) and returns the grade as a string: A (≥90), B (≥75), C (≥60), D (≥45), F (below 45). Call it in a loop for at least 5 students.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30352" y="2743200"/>
            <a:ext cx="3931920" cy="18288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752344"/>
            <a:ext cx="37947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D6F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💡 Hint: Use if/elif/else inside a def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00600" y="1371600"/>
            <a:ext cx="4251960" cy="16459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00600" y="1371600"/>
            <a:ext cx="45720" cy="16459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65192" y="1463040"/>
            <a:ext cx="384048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65192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58968" y="1481328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Multiplication Table Generator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65192" y="1847088"/>
            <a:ext cx="3931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function times_table(n) that prints the full multiplication table for any number n from 1×n to 10×n. Use a for loop with range(). Call it for 3 different numbers.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965192" y="2743200"/>
            <a:ext cx="3931920" cy="18288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2752344"/>
            <a:ext cx="37947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💡 Hint: for i in range(1, 11)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3127248"/>
            <a:ext cx="4251960" cy="16459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127248"/>
            <a:ext cx="45720" cy="164592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0352" y="3218688"/>
            <a:ext cx="384048" cy="38404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24128" y="3236976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 PIN Checker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0352" y="3602736"/>
            <a:ext cx="3931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an ATM login. Set a correct PIN (e.g. 1234). Use a while loop to give the user 3 attempts. If they get it right, print 'Access Granted'. After 3 wrong tries, print 'Card Blocked'.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30352" y="4498848"/>
            <a:ext cx="3931920" cy="18288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4507992"/>
            <a:ext cx="37947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💡 Hint: while attempts &lt; 3 + break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800600" y="3127248"/>
            <a:ext cx="4251960" cy="16459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00600" y="3127248"/>
            <a:ext cx="45720" cy="1645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965192" y="3218688"/>
            <a:ext cx="384048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65192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458968" y="3236976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/ Odd Sorter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965192" y="3602736"/>
            <a:ext cx="3931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function sort_numbers(numbers) that takes a list of integers and returns two separate lists — one with even numbers, one with odd numbers. Test it with at least 10 numbers.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965192" y="4498848"/>
            <a:ext cx="3931920" cy="18288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0" y="4507992"/>
            <a:ext cx="37947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💡 Hint: Use % operator and for loop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INNOLOFT VENTURES  ·  InnoTrack 2026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389120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Today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if / elif / else conditional logic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31343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for loops with range()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70662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while loops with conditions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09981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break and continue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4930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def and return functions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88620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Local vs global scope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27939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Reading error messages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63440" y="4572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6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5:00 PM Today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63440" y="8229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to InnoTrack: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63440" y="1188720"/>
            <a:ext cx="4206240" cy="5943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188720"/>
            <a:ext cx="438912" cy="594360"/>
          </a:xfrm>
          <a:prstGeom prst="rect">
            <a:avLst/>
          </a:prstGeom>
          <a:solidFill>
            <a:srgbClr val="E8650A"/>
          </a:solidFill>
          <a:ln w="12700">
            <a:solidFill>
              <a:srgbClr val="E865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1188720"/>
            <a:ext cx="438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166360" y="1261872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task .py files pushed to GitHub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1883664"/>
            <a:ext cx="4206240" cy="5943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1883664"/>
            <a:ext cx="438912" cy="594360"/>
          </a:xfrm>
          <a:prstGeom prst="rect">
            <a:avLst/>
          </a:prstGeom>
          <a:solidFill>
            <a:srgbClr val="E8650A"/>
          </a:solidFill>
          <a:ln w="12700">
            <a:solidFill>
              <a:srgbClr val="E8650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1883664"/>
            <a:ext cx="438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166360" y="1956816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 link pasted on InnoTrack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63440" y="2578608"/>
            <a:ext cx="4206240" cy="5943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2578608"/>
            <a:ext cx="438912" cy="594360"/>
          </a:xfrm>
          <a:prstGeom prst="rect">
            <a:avLst/>
          </a:prstGeom>
          <a:solidFill>
            <a:srgbClr val="E8650A"/>
          </a:solidFill>
          <a:ln w="12700">
            <a:solidFill>
              <a:srgbClr val="E8650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2578608"/>
            <a:ext cx="438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166360" y="2651760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of each task output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63440" y="3273552"/>
            <a:ext cx="4206240" cy="5943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3440" y="3273552"/>
            <a:ext cx="438912" cy="594360"/>
          </a:xfrm>
          <a:prstGeom prst="rect">
            <a:avLst/>
          </a:prstGeom>
          <a:solidFill>
            <a:srgbClr val="E8650A"/>
          </a:solidFill>
          <a:ln w="12700">
            <a:solidFill>
              <a:srgbClr val="E8650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3273552"/>
            <a:ext cx="438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166360" y="3346704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report PDF uploaded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663440" y="3968496"/>
            <a:ext cx="4206240" cy="5943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63440" y="3968496"/>
            <a:ext cx="438912" cy="594360"/>
          </a:xfrm>
          <a:prstGeom prst="rect">
            <a:avLst/>
          </a:prstGeom>
          <a:solidFill>
            <a:srgbClr val="E8650A"/>
          </a:solidFill>
          <a:ln w="12700">
            <a:solidFill>
              <a:srgbClr val="E8650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3968496"/>
            <a:ext cx="438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166360" y="4041648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field filled (what you built today)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663440" y="4663440"/>
            <a:ext cx="4206240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754880" y="4700016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— Day 3:  NumPy &amp; Pandas   →   Real data starts!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37" name="Text 35"/>
          <p:cNvSpPr/>
          <p:nvPr/>
        </p:nvSpPr>
        <p:spPr>
          <a:xfrm>
            <a:off x="0" y="4892040"/>
            <a:ext cx="4389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INNOLOFT VENTURES  ·  InnoTrack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1173</Words>
  <Application>Microsoft Office PowerPoint</Application>
  <PresentationFormat>On-screen Show (16:9)</PresentationFormat>
  <Paragraphs>184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Jaya sri</cp:lastModifiedBy>
  <cp:revision>2</cp:revision>
  <dcterms:created xsi:type="dcterms:W3CDTF">2026-06-01T07:58:13Z</dcterms:created>
  <dcterms:modified xsi:type="dcterms:W3CDTF">2026-06-01T13:03:43Z</dcterms:modified>
</cp:coreProperties>
</file>