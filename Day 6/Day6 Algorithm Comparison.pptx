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110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434F-E2AA-2E41-D31C-21086EE3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C5C6F-60A4-2833-4B0A-7FB658FA5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09A57-E1E2-80BD-1BFB-386468EA5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A09AE-70E4-8AA4-17FB-7B6D81CBDE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68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411480"/>
            <a:ext cx="265176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411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INNOTRACK 2025  ·  TRACK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9144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B"/>
                </a:solidFill>
              </a:rPr>
              <a:t>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F3B"/>
                </a:solidFill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9601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Algorithm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0440" y="1783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59E0B"/>
                </a:solidFill>
              </a:rPr>
              <a:t>Comparison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</a:rPr>
              <a:t>Understand which model works best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</a:rPr>
              <a:t>for your problem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20440" y="3703320"/>
            <a:ext cx="5303520" cy="6858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3703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B"/>
                </a:solidFill>
              </a:rPr>
              <a:t>📦  DELIVERABLE — Comparison table (≥3 models + metrics) pushed to GitHub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29260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Learn.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Improve.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Deploy.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Today's Schedule — Day 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Algorithm Comparison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9:00 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05156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Check-in on InnoTrack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1161288"/>
            <a:ext cx="109728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11612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36776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636776"/>
            <a:ext cx="109728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367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9:15 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1636776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Theory Session (75 min)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1746504"/>
            <a:ext cx="1097280" cy="3108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7465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LEARN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21992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221992"/>
            <a:ext cx="109728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2219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10:30 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222199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Hands-On Coding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2331720"/>
            <a:ext cx="1097280" cy="3108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331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CODE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07208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07208"/>
            <a:ext cx="109728" cy="5303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80720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1:00 PM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20240" y="280720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Lunch Break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06640" y="2916936"/>
            <a:ext cx="1097280" cy="31089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29169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BREAK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392424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392424"/>
            <a:ext cx="10972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39242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2:00 PM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20240" y="339242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Project Work &amp; Mentor Review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06640" y="3502152"/>
            <a:ext cx="109728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35021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BUILD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977640"/>
            <a:ext cx="109728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9776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4:30 PM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920240" y="397764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Upload Report &amp; GitHub Link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06640" y="4087368"/>
            <a:ext cx="1097280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406640" y="40873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SUBMIT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562856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562856"/>
            <a:ext cx="109728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56285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5:00 PM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920240" y="4562856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</a:rPr>
              <a:t>Sign Out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06640" y="4672584"/>
            <a:ext cx="1097280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7406640" y="46725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DONE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We'll Cover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155448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 Track 1 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8D8"/>
                </a:solidFill>
              </a:rPr>
              <a:t>Reload your .pkl model and dataset from Track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206240" cy="155448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502920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2618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 vs Decision Tree vs KNN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75564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8D8"/>
                </a:solidFill>
              </a:rPr>
              <a:t>Understand the key differences and when to use each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206240" cy="155448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02920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71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0449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 &amp; SVM Overview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53872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8D8"/>
                </a:solidFill>
              </a:rPr>
              <a:t>Ensemble methods and support vector machines explained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880360"/>
            <a:ext cx="4206240" cy="155448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880360"/>
            <a:ext cx="50292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71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30449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Accuracy, Precision, Recall &amp; F1-Score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53872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8D8"/>
                </a:solidFill>
              </a:rPr>
              <a:t>Master evaluation metrics — beyond simple accuracy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Track 1 Recap — Where We Left Off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B"/>
                </a:solidFill>
              </a:rPr>
              <a:t>💡  Bring your Track 1 .pkl and dataset — we start from where you left off!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41148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</a:rPr>
              <a:t>📂  Your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The CSV/DataFrame you cleaned and prepared in Track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37360"/>
            <a:ext cx="41148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</a:rPr>
              <a:t>🤖  Your Baseline Model (.pkl)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Trained model saved with joblib — your starting benchmark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54680"/>
            <a:ext cx="41148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37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</a:rPr>
              <a:t>📊  Your Baseline Metrics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Accuracy score from Track 1 — we'll beat this today!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54680"/>
            <a:ext cx="41148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337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</a:rPr>
              <a:t>🔗  Your GitHub Repo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All Track 1 notebooks should already be pushed here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Three Algorithms — Head to Head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79476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Logistic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3B82F6"/>
                </a:solidFill>
              </a:rPr>
              <a:t>BEST WHEN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Binary classification with linearly separable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4ADE80"/>
                </a:solidFill>
              </a:rPr>
              <a:t>✅ PROS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Simple &amp; fast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273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Probabilistic output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Easy to interpret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840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CA5A5"/>
                </a:solidFill>
              </a:rPr>
              <a:t>⚠ CONS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096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EE2E2"/>
                </a:solidFill>
              </a:rPr>
              <a:t>• Struggles with non-linear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352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EE2E2"/>
                </a:solidFill>
              </a:rPr>
              <a:t>• Sensitive to outliers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005840"/>
            <a:ext cx="2788920" cy="379476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005840"/>
            <a:ext cx="2788920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0058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Decision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Tree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37560" y="1874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B5CF6"/>
                </a:solidFill>
              </a:rPr>
              <a:t>BEST WHEN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When you need interpretable rules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7432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4ADE80"/>
                </a:solidFill>
              </a:rPr>
              <a:t>✅ PROS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Highly visual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273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No feature scaling needed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Handles non-linear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3840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CA5A5"/>
                </a:solidFill>
              </a:rPr>
              <a:t>⚠ CONS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4096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EE2E2"/>
                </a:solidFill>
              </a:rPr>
              <a:t>• Prone to overfitting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4352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EE2E2"/>
                </a:solidFill>
              </a:rPr>
              <a:t>• Unstable on small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1005840"/>
            <a:ext cx="2788920" cy="37947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005840"/>
            <a:ext cx="27889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0058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KNN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(K-Nearest)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9360" y="1874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BEST WHEN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Small datasets where similarity matters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7432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4ADE80"/>
                </a:solidFill>
              </a:rPr>
              <a:t>✅ PROS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No training phase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3273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Naturally multi-class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FAE5"/>
                </a:solidFill>
              </a:rPr>
              <a:t>• Intuitive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3840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CA5A5"/>
                </a:solidFill>
              </a:rPr>
              <a:t>⚠ CONS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4096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EE2E2"/>
                </a:solidFill>
              </a:rPr>
              <a:t>• Slow on large data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4352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EE2E2"/>
                </a:solidFill>
              </a:rPr>
              <a:t>• Sensitive to scaling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Random Forest &amp; SVM — Power Algorithms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14532D">
              <a:alpha val="9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🌳  Random Forest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1FAE5"/>
                </a:solidFill>
              </a:rPr>
              <a:t>An ensemble of many Decision Trees. Each tree votes; the majority wins.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Combines 100+ decision trees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352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Reduces overfitting dramatically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3558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Works well even without tuning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76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Handles missing values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197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Provides feature importance scores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1E1B4B">
              <a:alpha val="9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402336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51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⚡  SVM (Support Vector Machine)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DE9FE"/>
                </a:solidFill>
              </a:rPr>
              <a:t>Finds the optimal hyperplane that maximally separates two classes.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Excellent for high-dimensional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352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Effective with kernel tricks (RBF)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3558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Strong theoretical guarantees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776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Works even on small datasets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197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</a:rPr>
              <a:t>✔ </a:t>
            </a:r>
            <a:r>
              <a:rPr lang="en-US" sz="1100" dirty="0">
                <a:solidFill>
                  <a:srgbClr val="FFFFFF"/>
                </a:solidFill>
              </a:rPr>
              <a:t>Robust to outliers with C parameter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B"/>
                </a:solidFill>
              </a:rPr>
              <a:t>Evaluation Metrics — Beyond Accuracy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Accuracy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Correct Predictions / Total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5727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8D8"/>
                </a:solidFill>
              </a:rPr>
              <a:t>Percentage of all correct predictions. Works well on balanced datasets.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2677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82F6"/>
                </a:solidFill>
              </a:rPr>
              <a:t>USE WHEN: Balanced classes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05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Precision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TP / (TP + FP)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5727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8D8"/>
                </a:solidFill>
              </a:rPr>
              <a:t>Of all the positive predictions, how many were actually correct?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22677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5CF6"/>
                </a:solidFill>
              </a:rPr>
              <a:t>USE WHEN: When false positives are costly (spam)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411480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Recall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744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TP / (TP + FN)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34930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8D8"/>
                </a:solidFill>
              </a:rPr>
              <a:t>Of all actual positives, how many did your model catch?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41879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</a:rPr>
              <a:t>USE WHEN: When false negatives are costly (cancer)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41148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F1-Score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2 × (Precision × Recall) / (P + R)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4930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8D8"/>
                </a:solidFill>
              </a:rPr>
              <a:t>Harmonic mean of Precision &amp; Recall. Best for imbalanced datasets.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64608" y="41879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0B981"/>
                </a:solidFill>
              </a:rPr>
              <a:t>USE WHEN: Imbalanced classes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B2151-5B17-DA28-F8C3-FB6E8E46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4E9968-99EF-6C7E-20DB-77051ADD4A9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BC8EE5-4DA0-62DD-A900-B63E7B720AFD}"/>
              </a:ext>
            </a:extLst>
          </p:cNvPr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B"/>
                </a:solidFill>
              </a:rPr>
              <a:t>Evaluation Metrics — Beyond Accuracy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45B7354-269D-1B02-0A95-E9A1C3F17DB3}"/>
              </a:ext>
            </a:extLst>
          </p:cNvPr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025B82-1E86-D55F-1110-BC6099A13C3B}"/>
              </a:ext>
            </a:extLst>
          </p:cNvPr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85BCD7-D9E6-DA20-12EB-275D6808D2C1}"/>
              </a:ext>
            </a:extLst>
          </p:cNvPr>
          <p:cNvSpPr/>
          <p:nvPr/>
        </p:nvSpPr>
        <p:spPr>
          <a:xfrm>
            <a:off x="411480" y="1005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RMSE (Root Mean Squared Error)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B2744C-B681-41A2-F9EF-DB98DF5D6EC4}"/>
              </a:ext>
            </a:extLst>
          </p:cNvPr>
          <p:cNvSpPr/>
          <p:nvPr/>
        </p:nvSpPr>
        <p:spPr>
          <a:xfrm>
            <a:off x="23774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753A70C-A49A-A210-627C-67C4DC7BD685}"/>
              </a:ext>
            </a:extLst>
          </p:cNvPr>
          <p:cNvSpPr/>
          <p:nvPr/>
        </p:nvSpPr>
        <p:spPr>
          <a:xfrm>
            <a:off x="384048" y="15727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>
                <a:solidFill>
                  <a:schemeClr val="bg1"/>
                </a:solidFill>
              </a:rPr>
              <a:t>Measures the average prediction error. Larger errors are penalized more heavily because of squaring.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F4EBEA2-E532-6FEB-D467-35D5D37ACE5D}"/>
              </a:ext>
            </a:extLst>
          </p:cNvPr>
          <p:cNvSpPr/>
          <p:nvPr/>
        </p:nvSpPr>
        <p:spPr>
          <a:xfrm>
            <a:off x="384048" y="22677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3B82F6"/>
                </a:solidFill>
              </a:rPr>
              <a:t>USE WHEN: </a:t>
            </a:r>
            <a:r>
              <a:rPr lang="en-IN" sz="1000" dirty="0">
                <a:solidFill>
                  <a:schemeClr val="accent1"/>
                </a:solidFill>
              </a:rPr>
              <a:t>Large errors are particularly undesirable</a:t>
            </a:r>
            <a:r>
              <a:rPr lang="en-IN" sz="1000" dirty="0"/>
              <a:t>.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A56A872-FE55-5A0F-942B-A0EF428D3815}"/>
              </a:ext>
            </a:extLst>
          </p:cNvPr>
          <p:cNvSpPr/>
          <p:nvPr/>
        </p:nvSpPr>
        <p:spPr>
          <a:xfrm>
            <a:off x="4498848" y="1005840"/>
            <a:ext cx="4114800" cy="169164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6699F0A-B382-1AA6-4F64-B4050D384967}"/>
              </a:ext>
            </a:extLst>
          </p:cNvPr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5575EE-875E-279E-E7AC-D440EFC4DCE2}"/>
              </a:ext>
            </a:extLst>
          </p:cNvPr>
          <p:cNvSpPr/>
          <p:nvPr/>
        </p:nvSpPr>
        <p:spPr>
          <a:xfrm>
            <a:off x="4892040" y="1005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MAE (Mean Absolute Error)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D15EFAC-3DC6-CBDE-1CC0-A046132BF2D7}"/>
              </a:ext>
            </a:extLst>
          </p:cNvPr>
          <p:cNvSpPr/>
          <p:nvPr/>
        </p:nvSpPr>
        <p:spPr>
          <a:xfrm>
            <a:off x="68580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56ACF39-E3FC-A99F-5AAE-622B597A7D35}"/>
              </a:ext>
            </a:extLst>
          </p:cNvPr>
          <p:cNvSpPr/>
          <p:nvPr/>
        </p:nvSpPr>
        <p:spPr>
          <a:xfrm>
            <a:off x="4864608" y="15727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>
                <a:solidFill>
                  <a:schemeClr val="bg1"/>
                </a:solidFill>
              </a:rPr>
              <a:t>Average absolute difference between predicted and actual values.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EEFD31B-7BF1-71FF-A710-CDBB19B64F4E}"/>
              </a:ext>
            </a:extLst>
          </p:cNvPr>
          <p:cNvSpPr/>
          <p:nvPr/>
        </p:nvSpPr>
        <p:spPr>
          <a:xfrm>
            <a:off x="4864608" y="22677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8B5CF6"/>
                </a:solidFill>
              </a:rPr>
              <a:t>USE WHEN: </a:t>
            </a:r>
            <a:r>
              <a:rPr lang="en-IN" sz="1000" dirty="0">
                <a:solidFill>
                  <a:srgbClr val="7030A0"/>
                </a:solidFill>
              </a:rPr>
              <a:t>You want a simple and easily interpretable error metric.</a:t>
            </a:r>
            <a:endParaRPr lang="en-US" sz="950" dirty="0">
              <a:solidFill>
                <a:srgbClr val="7030A0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747EE2A-BAFE-7590-F99A-2D741D772A6D}"/>
              </a:ext>
            </a:extLst>
          </p:cNvPr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8CF10EA-D05A-2590-1995-C417FC6A90C0}"/>
              </a:ext>
            </a:extLst>
          </p:cNvPr>
          <p:cNvSpPr/>
          <p:nvPr/>
        </p:nvSpPr>
        <p:spPr>
          <a:xfrm>
            <a:off x="274320" y="2926080"/>
            <a:ext cx="411480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F9A393C-A94A-AE78-69E7-AC8F93CC70F8}"/>
              </a:ext>
            </a:extLst>
          </p:cNvPr>
          <p:cNvSpPr/>
          <p:nvPr/>
        </p:nvSpPr>
        <p:spPr>
          <a:xfrm>
            <a:off x="4114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R² Score (Coefficient of Determination)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DF91E2D-3F78-70C5-0869-368991573A90}"/>
              </a:ext>
            </a:extLst>
          </p:cNvPr>
          <p:cNvSpPr/>
          <p:nvPr/>
        </p:nvSpPr>
        <p:spPr>
          <a:xfrm>
            <a:off x="237744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D278DFA-3749-37D9-6A80-AF383F79DBE2}"/>
              </a:ext>
            </a:extLst>
          </p:cNvPr>
          <p:cNvSpPr/>
          <p:nvPr/>
        </p:nvSpPr>
        <p:spPr>
          <a:xfrm>
            <a:off x="384048" y="34930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>
                <a:solidFill>
                  <a:schemeClr val="bg1"/>
                </a:solidFill>
              </a:rPr>
              <a:t>Measures how much of the target variable's variance is explained by the model.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6F982BC-4CF6-B51E-8C24-334E395681B6}"/>
              </a:ext>
            </a:extLst>
          </p:cNvPr>
          <p:cNvSpPr/>
          <p:nvPr/>
        </p:nvSpPr>
        <p:spPr>
          <a:xfrm>
            <a:off x="384048" y="41879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EF4444"/>
                </a:solidFill>
              </a:rPr>
              <a:t>USE WHEN: </a:t>
            </a:r>
            <a:r>
              <a:rPr lang="en-IN" sz="1000" dirty="0">
                <a:solidFill>
                  <a:srgbClr val="FF0000"/>
                </a:solidFill>
              </a:rPr>
              <a:t>Comparing different regression models.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C044213-5BF6-30E2-5F56-AF48E92FEDD7}"/>
              </a:ext>
            </a:extLst>
          </p:cNvPr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31DE77E-D7D7-DB01-F757-EEFFE9B87A0B}"/>
              </a:ext>
            </a:extLst>
          </p:cNvPr>
          <p:cNvSpPr/>
          <p:nvPr/>
        </p:nvSpPr>
        <p:spPr>
          <a:xfrm>
            <a:off x="4750308" y="2907792"/>
            <a:ext cx="41148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5747BD5-8DAA-515A-4050-BB89A4BDE55B}"/>
              </a:ext>
            </a:extLst>
          </p:cNvPr>
          <p:cNvSpPr/>
          <p:nvPr/>
        </p:nvSpPr>
        <p:spPr>
          <a:xfrm>
            <a:off x="489204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MAPE (Mean Absolute Percentage Error)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A7D2F96-F1F4-1504-083D-D4BFD7FCEC38}"/>
              </a:ext>
            </a:extLst>
          </p:cNvPr>
          <p:cNvSpPr/>
          <p:nvPr/>
        </p:nvSpPr>
        <p:spPr>
          <a:xfrm>
            <a:off x="685800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E6C958C-52EC-5406-9293-7979BEB6EF2E}"/>
              </a:ext>
            </a:extLst>
          </p:cNvPr>
          <p:cNvSpPr/>
          <p:nvPr/>
        </p:nvSpPr>
        <p:spPr>
          <a:xfrm>
            <a:off x="4864608" y="34930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>
                <a:solidFill>
                  <a:schemeClr val="bg1"/>
                </a:solidFill>
              </a:rPr>
              <a:t>Average percentage error of predictions.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76E9C22-C919-BBB8-6A26-7A9D3E82C280}"/>
              </a:ext>
            </a:extLst>
          </p:cNvPr>
          <p:cNvSpPr/>
          <p:nvPr/>
        </p:nvSpPr>
        <p:spPr>
          <a:xfrm>
            <a:off x="4864608" y="41879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10B981"/>
                </a:solidFill>
              </a:rPr>
              <a:t>USE WHEN:</a:t>
            </a:r>
            <a:r>
              <a:rPr lang="en-IN" sz="1000" dirty="0">
                <a:solidFill>
                  <a:srgbClr val="00B050"/>
                </a:solidFill>
              </a:rPr>
              <a:t>Business, finance, sales forecasting, demand forecasting.</a:t>
            </a:r>
            <a:endParaRPr lang="en-US" sz="95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734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💻  Hands-On Coding Session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143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61288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61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1612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 Dataset &amp; Baseline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143000"/>
            <a:ext cx="4572000" cy="9601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joblib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joblib.load('track1_model.pkl')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...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1143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31720"/>
            <a:ext cx="73152" cy="1143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41448"/>
            <a:ext cx="45720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41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4414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3–4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423160"/>
            <a:ext cx="4572000" cy="9601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8595360" cy="1143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73152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721608"/>
            <a:ext cx="4572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216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7216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Compare Metrics in DataFrame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3703320"/>
            <a:ext cx="4572000" cy="9601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accuracy_score, f1_score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{'Model': [...], 'Accuracy': [...], 'F1': [...]}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pd.DataFrame(results)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B"/>
                </a:solidFill>
              </a:rPr>
              <a:t>📦  Deliverable: Export comparison DataFrame to CSV &amp; push to GitHub by 4:30 PM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Deliverable — Day 6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Jupyter Notebook with all 3–4 models trained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File name: day6_algorithm_comparison.ipynb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1243584"/>
            <a:ext cx="123444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2435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REQUIRED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2880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98424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19019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Comparison DataFrame with Accuracy, Precision, Recall, F1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1945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At least 3 models compared on the same dataset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1993392"/>
            <a:ext cx="123444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9933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REQUIRED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578608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78608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734056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26517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Best model identified with justification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9443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Comment or markdown cell explaining your choice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2743200"/>
            <a:ext cx="123444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REQUIRED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328416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328416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483864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4015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Notebook pushed to GitHub repo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369417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Same repo from Track 1 — add to /day6/ folder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3493008"/>
            <a:ext cx="123444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34930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REQUIRED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078224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078224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4233672"/>
            <a:ext cx="3291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41513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InnoTrack report submitted (GitHub link + screenshot)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444398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Submit by 4:30 PM on InnoTrack platform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0" y="4242816"/>
            <a:ext cx="1234440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0" y="42428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1F3B"/>
                </a:solidFill>
              </a:rPr>
              <a:t>TONIGHT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Day 6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760720" cy="713232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05156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No single algorithm is best — context and data determine the winner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5760720" cy="713232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2024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Accuracy alone is misleading — always use Precision, Recall &amp; F1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5760720" cy="713232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7889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78892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Random Forest is your default go-to for tabular classification problems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760720" cy="713232"/>
          </a:xfrm>
          <a:prstGeom prst="rect">
            <a:avLst/>
          </a:prstGeom>
          <a:solidFill>
            <a:srgbClr val="1323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65760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365760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Always compare models on the same train/test split for fair evaluation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051560"/>
            <a:ext cx="2423160" cy="3794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143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/>
              <a:t>Next class</a:t>
            </a:r>
          </a:p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B"/>
                </a:solidFill>
              </a:rPr>
              <a:t>Hyperparameter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B"/>
                </a:solidFill>
              </a:rPr>
              <a:t>Tuning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606040"/>
            <a:ext cx="2331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F3B"/>
                </a:solidFill>
              </a:rPr>
              <a:t>GridSearchCV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B1F3B"/>
                </a:solidFill>
              </a:rPr>
              <a:t>RandomizedSearchCV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B1F3B"/>
                </a:solidFill>
              </a:rPr>
              <a:t>k-Fold Cross 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B1F3B"/>
                </a:solidFill>
              </a:rPr>
              <a:t>Overfitting vs Underfitting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B1F3B"/>
                </a:solidFill>
              </a:rPr>
              <a:t>We'll squeeze even more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B1F3B"/>
                </a:solidFill>
              </a:rPr>
              <a:t>accuracy from your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B1F3B"/>
                </a:solidFill>
              </a:rPr>
              <a:t>best model today!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987</Words>
  <Application>Microsoft Office PowerPoint</Application>
  <PresentationFormat>On-screen Show (16:9)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AKHIL MANIKANDAN</cp:lastModifiedBy>
  <cp:revision>3</cp:revision>
  <dcterms:created xsi:type="dcterms:W3CDTF">2026-06-01T04:12:56Z</dcterms:created>
  <dcterms:modified xsi:type="dcterms:W3CDTF">2026-06-06T05:17:42Z</dcterms:modified>
</cp:coreProperties>
</file>